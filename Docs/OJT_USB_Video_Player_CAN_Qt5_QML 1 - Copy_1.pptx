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FD500-386D-FF95-86DC-FBDB2F4C673C}" v="9" dt="2026-10-07T02:46:13.940"/>
    <p1510:client id="{512F4F81-91C7-2E6F-C0CC-4727E00E092F}" v="2" dt="2026-10-07T03:11:03.517"/>
    <p1510:client id="{6D4A6B47-F24D-32E8-B38A-4B00AD9A12F1}" v="2" dt="2026-10-07T02:56:55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Pham Minh" userId="S::hieupm39@fpt.com::69c50cbc-03c4-4d85-9759-9f8bc0a69e17" providerId="AD" clId="Web-{6D4A6B47-F24D-32E8-B38A-4B00AD9A12F1}"/>
    <pc:docChg chg="modSld">
      <pc:chgData name="Hieu Pham Minh" userId="S::hieupm39@fpt.com::69c50cbc-03c4-4d85-9759-9f8bc0a69e17" providerId="AD" clId="Web-{6D4A6B47-F24D-32E8-B38A-4B00AD9A12F1}" dt="2026-10-07T02:56:55.274" v="1" actId="1076"/>
      <pc:docMkLst>
        <pc:docMk/>
      </pc:docMkLst>
      <pc:sldChg chg="modSp">
        <pc:chgData name="Hieu Pham Minh" userId="S::hieupm39@fpt.com::69c50cbc-03c4-4d85-9759-9f8bc0a69e17" providerId="AD" clId="Web-{6D4A6B47-F24D-32E8-B38A-4B00AD9A12F1}" dt="2026-10-07T02:56:55.274" v="1" actId="1076"/>
        <pc:sldMkLst>
          <pc:docMk/>
          <pc:sldMk cId="0" sldId="257"/>
        </pc:sldMkLst>
        <pc:spChg chg="mod">
          <ac:chgData name="Hieu Pham Minh" userId="S::hieupm39@fpt.com::69c50cbc-03c4-4d85-9759-9f8bc0a69e17" providerId="AD" clId="Web-{6D4A6B47-F24D-32E8-B38A-4B00AD9A12F1}" dt="2026-10-07T02:56:55.274" v="1" actId="1076"/>
          <ac:spMkLst>
            <pc:docMk/>
            <pc:sldMk cId="0" sldId="257"/>
            <ac:spMk id="12" creationId="{00000000-0000-0000-0000-000000000000}"/>
          </ac:spMkLst>
        </pc:spChg>
      </pc:sldChg>
    </pc:docChg>
  </pc:docChgLst>
  <pc:docChgLst>
    <pc:chgData name="Lam Nguyen Thua" userId="S::lamnt85@fpt.com::bff9091b-b27f-4911-9206-21b424495bcf" providerId="AD" clId="Web-{512F4F81-91C7-2E6F-C0CC-4727E00E092F}"/>
    <pc:docChg chg="modSld">
      <pc:chgData name="Lam Nguyen Thua" userId="S::lamnt85@fpt.com::bff9091b-b27f-4911-9206-21b424495bcf" providerId="AD" clId="Web-{512F4F81-91C7-2E6F-C0CC-4727E00E092F}" dt="2026-10-07T03:11:03.517" v="1" actId="1076"/>
      <pc:docMkLst>
        <pc:docMk/>
      </pc:docMkLst>
      <pc:sldChg chg="modSp">
        <pc:chgData name="Lam Nguyen Thua" userId="S::lamnt85@fpt.com::bff9091b-b27f-4911-9206-21b424495bcf" providerId="AD" clId="Web-{512F4F81-91C7-2E6F-C0CC-4727E00E092F}" dt="2026-10-07T03:11:03.517" v="1" actId="1076"/>
        <pc:sldMkLst>
          <pc:docMk/>
          <pc:sldMk cId="0" sldId="267"/>
        </pc:sldMkLst>
        <pc:spChg chg="mod">
          <ac:chgData name="Lam Nguyen Thua" userId="S::lamnt85@fpt.com::bff9091b-b27f-4911-9206-21b424495bcf" providerId="AD" clId="Web-{512F4F81-91C7-2E6F-C0CC-4727E00E092F}" dt="2026-10-07T03:11:03.517" v="1" actId="1076"/>
          <ac:spMkLst>
            <pc:docMk/>
            <pc:sldMk cId="0" sldId="267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80">
                <a:solidFill>
                  <a:srgbClr val="54D6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OJT PROJECT BRIEF</a:t>
            </a:r>
            <a:endParaRPr lang="en-US" sz="900"/>
          </a:p>
        </p:txBody>
      </p:sp>
      <p:sp>
        <p:nvSpPr>
          <p:cNvPr id="4" name="Text 2"/>
          <p:cNvSpPr/>
          <p:nvPr/>
        </p:nvSpPr>
        <p:spPr>
          <a:xfrm>
            <a:off x="7772400" y="651967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7894A8"/>
                </a:solidFill>
              </a:rPr>
              <a:t>Embedded Linux • CAN • Qt/QML • Multimedia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generated_image_D8A43CEBF517_01.png"/>
          <p:cNvPicPr>
            <a:picLocks noChangeAspect="1"/>
          </p:cNvPicPr>
          <p:nvPr/>
        </p:nvPicPr>
        <p:blipFill>
          <a:blip r:embed="rId3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11F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96012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5FAFD"/>
                </a:solidFill>
              </a:rPr>
              <a:t>USB VIDEO PLAYER</a:t>
            </a:r>
            <a:endParaRPr lang="en-US" sz="3000"/>
          </a:p>
          <a:p>
            <a:pPr marL="0" indent="0">
              <a:buNone/>
            </a:pPr>
            <a:r>
              <a:rPr lang="en-US" sz="3000" b="1">
                <a:solidFill>
                  <a:srgbClr val="F5FAFD"/>
                </a:solidFill>
              </a:rPr>
              <a:t>CONTROLLED VIA CAN</a:t>
            </a:r>
            <a:endParaRPr lang="en-US" sz="3000"/>
          </a:p>
        </p:txBody>
      </p:sp>
      <p:sp>
        <p:nvSpPr>
          <p:cNvPr id="5" name="Text 2"/>
          <p:cNvSpPr/>
          <p:nvPr/>
        </p:nvSpPr>
        <p:spPr>
          <a:xfrm>
            <a:off x="667512" y="254203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D9F7FA"/>
                </a:solidFill>
              </a:rPr>
              <a:t>Đề tài OJT tích hợp Driver • Embedded Linux • Qt5/QML • CANoe</a:t>
            </a:r>
            <a:endParaRPr lang="en-US" sz="1600"/>
          </a:p>
        </p:txBody>
      </p:sp>
      <p:sp>
        <p:nvSpPr>
          <p:cNvPr id="6" name="Shape 3"/>
          <p:cNvSpPr/>
          <p:nvPr/>
        </p:nvSpPr>
        <p:spPr>
          <a:xfrm>
            <a:off x="658368" y="4434840"/>
            <a:ext cx="5303520" cy="941832"/>
          </a:xfrm>
          <a:prstGeom prst="roundRect">
            <a:avLst/>
          </a:prstGeom>
          <a:solidFill>
            <a:srgbClr val="062943">
              <a:alpha val="88000"/>
            </a:srgbClr>
          </a:solidFill>
          <a:ln w="15240">
            <a:solidFill>
              <a:srgbClr val="10B7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4681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5FAFD"/>
                </a:solidFill>
              </a:rPr>
              <a:t>Kết quả demo: cắm USB → tự tạo playlist → phát video → điều khiển từ CANoe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1. Bài toán &amp; mục tiêu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Một đề tài end-to-end, đủ để đánh giá năng lực từ low-level đến HMI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64008" cy="411480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Đầu vào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95528" y="2167128"/>
            <a:ext cx="306324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Raspberry Pi / Linux target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CAN controller + transceiver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USB chứa video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Máy tính chạy CANoe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600200"/>
            <a:ext cx="64008" cy="4114800"/>
          </a:xfrm>
          <a:prstGeom prst="rect">
            <a:avLst/>
          </a:prstGeom>
          <a:solidFill>
            <a:srgbClr val="FF9D3D"/>
          </a:solidFill>
          <a:ln w="12700">
            <a:solidFill>
              <a:srgbClr val="FF9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OJT thực hiện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572000" y="2167128"/>
            <a:ext cx="306324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Migrate/enable CAN driver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Port Qt5 và multimedia stack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Phát triển QML player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Tích hợp USB scan + playlist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Định nghĩa CAN control protocol</a:t>
            </a:r>
            <a:endParaRPr lang="en-US" sz="116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00200"/>
            <a:ext cx="64008" cy="4114800"/>
          </a:xfrm>
          <a:prstGeom prst="rect">
            <a:avLst/>
          </a:prstGeom>
          <a:solidFill>
            <a:srgbClr val="42C77A"/>
          </a:solidFill>
          <a:ln w="12700">
            <a:solidFill>
              <a:srgbClr val="42C7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7647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Đầu ra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8339328" y="2167128"/>
            <a:ext cx="306324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can0 hoạt động ổn định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Ứng dụng tự nhận USB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Playback + seek hoạt động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CANoe điều khiển đầy đủ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Có test report và demo</a:t>
            </a:r>
            <a:endParaRPr lang="en-US" sz="116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2. Kiến trúc hệ thống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Tách rõ hardware, Linux platform, application và test tool</a:t>
            </a:r>
            <a:endParaRPr lang="en-US" sz="1250"/>
          </a:p>
        </p:txBody>
      </p:sp>
      <p:pic>
        <p:nvPicPr>
          <p:cNvPr id="4" name="Image 0" descr="/mnt/data/generated_image_D8A43CEBF517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64922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417320"/>
            <a:ext cx="3886200" cy="658368"/>
          </a:xfrm>
          <a:prstGeom prst="roundRect">
            <a:avLst/>
          </a:prstGeom>
          <a:solidFill>
            <a:srgbClr val="0B2942"/>
          </a:solidFill>
          <a:ln w="16510">
            <a:solidFill>
              <a:srgbClr val="FF9D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52704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AFD"/>
                </a:solidFill>
              </a:rPr>
              <a:t>CANoe Panel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923544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9C1D3"/>
                </a:solidFill>
              </a:rPr>
              <a:t>Gửi command / nhận status</a:t>
            </a:r>
            <a:endParaRPr lang="en-US" sz="1050"/>
          </a:p>
        </p:txBody>
      </p:sp>
      <p:sp>
        <p:nvSpPr>
          <p:cNvPr id="8" name="Shape 5"/>
          <p:cNvSpPr/>
          <p:nvPr/>
        </p:nvSpPr>
        <p:spPr>
          <a:xfrm>
            <a:off x="7543800" y="2295144"/>
            <a:ext cx="3886200" cy="658368"/>
          </a:xfrm>
          <a:prstGeom prst="roundRect">
            <a:avLst/>
          </a:prstGeom>
          <a:solidFill>
            <a:srgbClr val="0B2942"/>
          </a:solidFill>
          <a:ln w="16510">
            <a:solidFill>
              <a:srgbClr val="10B7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24048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AFD"/>
                </a:solidFill>
              </a:rPr>
              <a:t>CAN Driver + SocketCAN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9235440" y="2404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9C1D3"/>
                </a:solidFill>
              </a:rPr>
              <a:t>CAN controller → can0</a:t>
            </a:r>
            <a:endParaRPr lang="en-US" sz="1050"/>
          </a:p>
        </p:txBody>
      </p:sp>
      <p:sp>
        <p:nvSpPr>
          <p:cNvPr id="11" name="Shape 8"/>
          <p:cNvSpPr/>
          <p:nvPr/>
        </p:nvSpPr>
        <p:spPr>
          <a:xfrm>
            <a:off x="7543800" y="3172968"/>
            <a:ext cx="3886200" cy="658368"/>
          </a:xfrm>
          <a:prstGeom prst="roundRect">
            <a:avLst/>
          </a:prstGeom>
          <a:solidFill>
            <a:srgbClr val="0B2942"/>
          </a:solidFill>
          <a:ln w="16510">
            <a:solidFill>
              <a:srgbClr val="1479C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328269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AFD"/>
                </a:solidFill>
              </a:rPr>
              <a:t>CAN Service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9235440" y="32826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9C1D3"/>
                </a:solidFill>
              </a:rPr>
              <a:t>Decode frame, dispatch command</a:t>
            </a:r>
            <a:endParaRPr lang="en-US" sz="1050"/>
          </a:p>
        </p:txBody>
      </p:sp>
      <p:sp>
        <p:nvSpPr>
          <p:cNvPr id="14" name="Shape 11"/>
          <p:cNvSpPr/>
          <p:nvPr/>
        </p:nvSpPr>
        <p:spPr>
          <a:xfrm>
            <a:off x="7543800" y="4050792"/>
            <a:ext cx="3886200" cy="658368"/>
          </a:xfrm>
          <a:prstGeom prst="roundRect">
            <a:avLst/>
          </a:prstGeom>
          <a:solidFill>
            <a:srgbClr val="0B2942"/>
          </a:solidFill>
          <a:ln w="16510">
            <a:solidFill>
              <a:srgbClr val="42C7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0" y="41605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AFD"/>
                </a:solidFill>
              </a:rPr>
              <a:t>Qt/QML Player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9235440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9C1D3"/>
                </a:solidFill>
              </a:rPr>
              <a:t>UI, playlist, playback, seek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>
          <a:xfrm>
            <a:off x="7543800" y="4928616"/>
            <a:ext cx="3886200" cy="658368"/>
          </a:xfrm>
          <a:prstGeom prst="roundRect">
            <a:avLst/>
          </a:prstGeom>
          <a:solidFill>
            <a:srgbClr val="0B2942"/>
          </a:solidFill>
          <a:ln w="16510">
            <a:solidFill>
              <a:srgbClr val="10B7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50383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FAFD"/>
                </a:solidFill>
              </a:rPr>
              <a:t>USB / udev</a:t>
            </a:r>
            <a:endParaRPr lang="en-US" sz="1300"/>
          </a:p>
        </p:txBody>
      </p:sp>
      <p:sp>
        <p:nvSpPr>
          <p:cNvPr id="19" name="Text 16"/>
          <p:cNvSpPr/>
          <p:nvPr/>
        </p:nvSpPr>
        <p:spPr>
          <a:xfrm>
            <a:off x="9235440" y="5038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9C1D3"/>
                </a:solidFill>
              </a:rPr>
              <a:t>Detect, mount, scan media</a:t>
            </a:r>
            <a:endParaRPr lang="en-US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3. Work Package A — CAN Controller Driver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Mục tiêu: CAN interface hoạt động theo chuẩn SocketCAN và sẵn sàng tích hợp ứng dụng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64008" cy="452628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27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Phạm vi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95528" y="2029968"/>
            <a:ext cx="31546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Xác định CAN controller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Cấu hình SPI/GPIO/clock/IRQ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Enable kernel config/module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Cập nhật Device Tree/overlay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Bring-up can0 và bitrate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63040"/>
            <a:ext cx="64008" cy="4526280"/>
          </a:xfrm>
          <a:prstGeom prst="rect">
            <a:avLst/>
          </a:prstGeom>
          <a:solidFill>
            <a:srgbClr val="FF9D3D"/>
          </a:solidFill>
          <a:ln w="12700">
            <a:solidFill>
              <a:srgbClr val="FF9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627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Kiểm chứng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544568" y="2029968"/>
            <a:ext cx="31546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ip link / ethtool / dmesg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candump nhận frame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cansend truyền frame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Test bus-off / restart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Log lỗi và phân tích nguyên nhân</a:t>
            </a:r>
            <a:endParaRPr lang="en-US" sz="116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63040"/>
            <a:ext cx="64008" cy="4526280"/>
          </a:xfrm>
          <a:prstGeom prst="rect">
            <a:avLst/>
          </a:prstGeom>
          <a:solidFill>
            <a:srgbClr val="42C77A"/>
          </a:solidFill>
          <a:ln w="12700">
            <a:solidFill>
              <a:srgbClr val="42C7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6276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Deliverable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8293608" y="2029968"/>
            <a:ext cx="31546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Source/patch driver và DTS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Build &amp; deployment guide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CAN bring-up script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Driver test cases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Known issues / limitation</a:t>
            </a:r>
            <a:endParaRPr lang="en-US" sz="116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4. Work Package B — Qt5 &amp; Multimedia Porting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Mục tiêu: chạy ổn định Qt/QML và video playback trên target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64008" cy="438912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73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Qt5 Runtime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95528" y="2075688"/>
            <a:ext cx="315468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Cross-compile hoặc package từ image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Qt Core / Gui / Qml / Quick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Qt Multimedia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Plugin platform: EGLFS/Wayland/X11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508760"/>
            <a:ext cx="64008" cy="4389120"/>
          </a:xfrm>
          <a:prstGeom prst="rect">
            <a:avLst/>
          </a:prstGeom>
          <a:solidFill>
            <a:srgbClr val="FF9D3D"/>
          </a:solidFill>
          <a:ln w="12700">
            <a:solidFill>
              <a:srgbClr val="FF9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673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Media Backend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544568" y="2075688"/>
            <a:ext cx="315468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GStreamer plugins cần thiết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H.264/MP4 playback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Audio output nếu có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Kiểm tra HW/SW decode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Đo CPU, RAM và startup time</a:t>
            </a:r>
            <a:endParaRPr lang="en-US" sz="1160"/>
          </a:p>
        </p:txBody>
      </p:sp>
      <p:sp>
        <p:nvSpPr>
          <p:cNvPr id="12" name="Shape 10"/>
          <p:cNvSpPr/>
          <p:nvPr/>
        </p:nvSpPr>
        <p:spPr>
          <a:xfrm>
            <a:off x="8092440" y="150876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508760"/>
            <a:ext cx="64008" cy="4389120"/>
          </a:xfrm>
          <a:prstGeom prst="rect">
            <a:avLst/>
          </a:prstGeom>
          <a:solidFill>
            <a:srgbClr val="42C77A"/>
          </a:solidFill>
          <a:ln w="12700">
            <a:solidFill>
              <a:srgbClr val="42C7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673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Acceptance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8293608" y="2075688"/>
            <a:ext cx="315468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Ứng dụng QML khởi chạy tự động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Video mẫu play ổn định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Không leak qua lặp playlist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Không crash khi rút/cắm USB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Có deployment guide</a:t>
            </a:r>
            <a:endParaRPr lang="en-US" sz="116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5. Work Package C — QML Video Player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Giao diện gọn, điều khiển được bằng touch/mouse và CAN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6903720" cy="4526280"/>
          </a:xfrm>
          <a:prstGeom prst="roundRect">
            <a:avLst/>
          </a:prstGeom>
          <a:solidFill>
            <a:srgbClr val="0A2237"/>
          </a:solidFill>
          <a:ln w="12700">
            <a:solidFill>
              <a:srgbClr val="2F65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4343400" cy="2606040"/>
          </a:xfrm>
          <a:prstGeom prst="rect">
            <a:avLst/>
          </a:prstGeom>
          <a:solidFill>
            <a:srgbClr val="123F5A"/>
          </a:solidFill>
          <a:ln w="12700">
            <a:solidFill>
              <a:srgbClr val="1E75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9968" y="277977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BC8D4"/>
                </a:solidFill>
              </a:rPr>
              <a:t>VIDEO AREA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5440680" y="1737360"/>
            <a:ext cx="1737360" cy="3429000"/>
          </a:xfrm>
          <a:prstGeom prst="roundRect">
            <a:avLst/>
          </a:prstGeom>
          <a:solidFill>
            <a:srgbClr val="0D304A"/>
          </a:solidFill>
          <a:ln w="12700">
            <a:solidFill>
              <a:srgbClr val="2F65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23560" y="201168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>
                <a:solidFill>
                  <a:srgbClr val="F5FAFD"/>
                </a:solidFill>
              </a:rPr>
              <a:t>▶ demo_01.mp4</a:t>
            </a:r>
            <a:endParaRPr lang="en-US" sz="970"/>
          </a:p>
        </p:txBody>
      </p:sp>
      <p:sp>
        <p:nvSpPr>
          <p:cNvPr id="9" name="Text 7"/>
          <p:cNvSpPr/>
          <p:nvPr/>
        </p:nvSpPr>
        <p:spPr>
          <a:xfrm>
            <a:off x="5623560" y="25420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>
                <a:solidFill>
                  <a:srgbClr val="A9C1D3"/>
                </a:solidFill>
              </a:rPr>
              <a:t>  demo_02.mp4</a:t>
            </a:r>
            <a:endParaRPr lang="en-US" sz="970"/>
          </a:p>
        </p:txBody>
      </p:sp>
      <p:sp>
        <p:nvSpPr>
          <p:cNvPr id="10" name="Text 8"/>
          <p:cNvSpPr/>
          <p:nvPr/>
        </p:nvSpPr>
        <p:spPr>
          <a:xfrm>
            <a:off x="5623560" y="3072384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>
                <a:solidFill>
                  <a:srgbClr val="A9C1D3"/>
                </a:solidFill>
              </a:rPr>
              <a:t>  demo_03.mkv</a:t>
            </a:r>
            <a:endParaRPr lang="en-US" sz="970"/>
          </a:p>
        </p:txBody>
      </p:sp>
      <p:sp>
        <p:nvSpPr>
          <p:cNvPr id="11" name="Text 9"/>
          <p:cNvSpPr/>
          <p:nvPr/>
        </p:nvSpPr>
        <p:spPr>
          <a:xfrm>
            <a:off x="5623560" y="360273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>
                <a:solidFill>
                  <a:srgbClr val="A9C1D3"/>
                </a:solidFill>
              </a:rPr>
              <a:t>  demo_04.mp4</a:t>
            </a:r>
            <a:endParaRPr lang="en-US" sz="970"/>
          </a:p>
        </p:txBody>
      </p:sp>
      <p:sp>
        <p:nvSpPr>
          <p:cNvPr id="12" name="Text 10"/>
          <p:cNvSpPr/>
          <p:nvPr/>
        </p:nvSpPr>
        <p:spPr>
          <a:xfrm>
            <a:off x="1078992" y="4709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5FAFD"/>
                </a:solidFill>
              </a:rPr>
              <a:t>⏮     ◀◀     ▶/Ⅱ     ▶▶     ⏭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7818120" y="141732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1417320"/>
            <a:ext cx="64008" cy="2011680"/>
          </a:xfrm>
          <a:prstGeom prst="rect">
            <a:avLst/>
          </a:prstGeom>
          <a:solidFill>
            <a:srgbClr val="FF9D3D"/>
          </a:solidFill>
          <a:ln w="12700">
            <a:solidFill>
              <a:srgbClr val="FF9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9288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Chức năng bắt buộc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8019288" y="1984248"/>
            <a:ext cx="33832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Play / Pause / Next / Previous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Fast Forward / Backward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Progress bar + current time</a:t>
            </a:r>
            <a:endParaRPr lang="en-US" sz="1160"/>
          </a:p>
        </p:txBody>
      </p:sp>
      <p:sp>
        <p:nvSpPr>
          <p:cNvPr id="17" name="Shape 15"/>
          <p:cNvSpPr/>
          <p:nvPr/>
        </p:nvSpPr>
        <p:spPr>
          <a:xfrm>
            <a:off x="7818120" y="3675888"/>
            <a:ext cx="3749040" cy="2267712"/>
          </a:xfrm>
          <a:prstGeom prst="roundRect">
            <a:avLst>
              <a:gd name="adj" fmla="val 3226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3675888"/>
            <a:ext cx="64008" cy="2267712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9288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Playlist &amp; trạng thái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8019288" y="4242816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Scan thư mục đệ quy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Highlight video hiện tại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Empty/error state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Thông báo USB removed</a:t>
            </a:r>
            <a:endParaRPr lang="en-US" sz="116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6. CAN Protocol đề xuất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Thiết kế ban đầu cho demo, OJT phải hoàn thiện DBC/spec và error handling</a:t>
            </a:r>
            <a:endParaRPr lang="en-US" sz="125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9D3D"/>
                </a:solidFill>
              </a:rPr>
              <a:t>CAN ID 0x100 — COMMAND</a:t>
            </a:r>
            <a:endParaRPr lang="en-US" sz="170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457200"/>
          </a:xfrm>
          <a:prstGeom prst="rect">
            <a:avLst/>
          </a:prstGeom>
          <a:solidFill>
            <a:srgbClr val="10334C"/>
          </a:solidFill>
          <a:ln w="12700">
            <a:solidFill>
              <a:srgbClr val="234C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842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FAFD"/>
                </a:solidFill>
              </a:rPr>
              <a:t>Byte 0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691640" y="19842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B7C4"/>
                </a:solidFill>
              </a:rPr>
              <a:t>Command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2697480" y="1984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9C1D3"/>
                </a:solidFill>
              </a:rPr>
              <a:t>01 Play • 02 Pause • 03 Next • 04 Previous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5257800" cy="457200"/>
          </a:xfrm>
          <a:prstGeom prst="rect">
            <a:avLst/>
          </a:prstGeom>
          <a:solidFill>
            <a:srgbClr val="0B2942"/>
          </a:solidFill>
          <a:ln w="12700">
            <a:solidFill>
              <a:srgbClr val="234C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511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FAFD"/>
                </a:solidFill>
              </a:rPr>
              <a:t>Byte 1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691640" y="255117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B7C4"/>
                </a:solidFill>
              </a:rPr>
              <a:t>Seek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2697480" y="25511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9C1D3"/>
                </a:solidFill>
              </a:rPr>
              <a:t>05 Fast Forward • 06 Backward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640080" y="3008376"/>
            <a:ext cx="5257800" cy="457200"/>
          </a:xfrm>
          <a:prstGeom prst="rect">
            <a:avLst/>
          </a:prstGeom>
          <a:solidFill>
            <a:srgbClr val="10334C"/>
          </a:solidFill>
          <a:ln w="12700">
            <a:solidFill>
              <a:srgbClr val="234C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1181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FAFD"/>
                </a:solidFill>
              </a:rPr>
              <a:t>Byte 2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691640" y="311810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B7C4"/>
                </a:solidFill>
              </a:rPr>
              <a:t>Value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2697480" y="31181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9C1D3"/>
                </a:solidFill>
              </a:rPr>
              <a:t>Seek step hoặc tốc độ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640080" y="3575304"/>
            <a:ext cx="5257800" cy="457200"/>
          </a:xfrm>
          <a:prstGeom prst="rect">
            <a:avLst/>
          </a:prstGeom>
          <a:solidFill>
            <a:srgbClr val="0B2942"/>
          </a:solidFill>
          <a:ln w="12700">
            <a:solidFill>
              <a:srgbClr val="234C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850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FAFD"/>
                </a:solidFill>
              </a:rPr>
              <a:t>Byte 3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1691640" y="368503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B7C4"/>
                </a:solidFill>
              </a:rPr>
              <a:t>Counter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2697480" y="36850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9C1D3"/>
                </a:solidFill>
              </a:rPr>
              <a:t>Rolling counter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640080" y="4142232"/>
            <a:ext cx="5257800" cy="457200"/>
          </a:xfrm>
          <a:prstGeom prst="rect">
            <a:avLst/>
          </a:prstGeom>
          <a:solidFill>
            <a:srgbClr val="10334C"/>
          </a:solidFill>
          <a:ln w="12700">
            <a:solidFill>
              <a:srgbClr val="234C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2519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FAFD"/>
                </a:solidFill>
              </a:rPr>
              <a:t>Byte 4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691640" y="425196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0B7C4"/>
                </a:solidFill>
              </a:rPr>
              <a:t>Checksum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2697480" y="4251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9C1D3"/>
                </a:solidFill>
              </a:rPr>
              <a:t>Tùy chọn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64465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42C77A"/>
                </a:solidFill>
              </a:rPr>
              <a:t>CAN ID 0x101 — STATUS</a:t>
            </a:r>
            <a:endParaRPr lang="en-US" sz="1700"/>
          </a:p>
        </p:txBody>
      </p:sp>
      <p:sp>
        <p:nvSpPr>
          <p:cNvPr id="26" name="Shape 24"/>
          <p:cNvSpPr/>
          <p:nvPr/>
        </p:nvSpPr>
        <p:spPr>
          <a:xfrm>
            <a:off x="6446520" y="1874520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1874520"/>
            <a:ext cx="64008" cy="1280160"/>
          </a:xfrm>
          <a:prstGeom prst="rect">
            <a:avLst/>
          </a:prstGeom>
          <a:solidFill>
            <a:srgbClr val="42C77A"/>
          </a:solidFill>
          <a:ln w="12700">
            <a:solidFill>
              <a:srgbClr val="42C7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7688" y="20391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Playback State</a:t>
            </a:r>
            <a:endParaRPr lang="en-US" sz="1500"/>
          </a:p>
        </p:txBody>
      </p:sp>
      <p:sp>
        <p:nvSpPr>
          <p:cNvPr id="29" name="Text 27"/>
          <p:cNvSpPr/>
          <p:nvPr/>
        </p:nvSpPr>
        <p:spPr>
          <a:xfrm>
            <a:off x="6647688" y="244144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STOPPED / PLAYING / PAUSED / ERROR</a:t>
            </a:r>
            <a:endParaRPr lang="en-US" sz="1160"/>
          </a:p>
        </p:txBody>
      </p:sp>
      <p:sp>
        <p:nvSpPr>
          <p:cNvPr id="30" name="Shape 28"/>
          <p:cNvSpPr/>
          <p:nvPr/>
        </p:nvSpPr>
        <p:spPr>
          <a:xfrm>
            <a:off x="6446520" y="3401568"/>
            <a:ext cx="5074920" cy="1280160"/>
          </a:xfrm>
          <a:prstGeom prst="roundRect">
            <a:avLst>
              <a:gd name="adj" fmla="val 5714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3401568"/>
            <a:ext cx="64008" cy="128016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35661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Current Item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6647688" y="3968496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Playlist index + media duration/current time</a:t>
            </a:r>
            <a:endParaRPr lang="en-US" sz="1160"/>
          </a:p>
        </p:txBody>
      </p:sp>
      <p:sp>
        <p:nvSpPr>
          <p:cNvPr id="34" name="Shape 32"/>
          <p:cNvSpPr/>
          <p:nvPr/>
        </p:nvSpPr>
        <p:spPr>
          <a:xfrm>
            <a:off x="6446520" y="4928616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4928616"/>
            <a:ext cx="64008" cy="960120"/>
          </a:xfrm>
          <a:prstGeom prst="rect">
            <a:avLst/>
          </a:prstGeom>
          <a:solidFill>
            <a:srgbClr val="FF9D3D"/>
          </a:solidFill>
          <a:ln w="12700">
            <a:solidFill>
              <a:srgbClr val="FF9D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7688" y="50932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Health</a:t>
            </a:r>
            <a:endParaRPr lang="en-US" sz="1500"/>
          </a:p>
        </p:txBody>
      </p:sp>
      <p:sp>
        <p:nvSpPr>
          <p:cNvPr id="37" name="Text 35"/>
          <p:cNvSpPr/>
          <p:nvPr/>
        </p:nvSpPr>
        <p:spPr>
          <a:xfrm>
            <a:off x="6647688" y="5495544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USB state + player error + counter</a:t>
            </a:r>
            <a:endParaRPr lang="en-US" sz="116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7. Test &amp; Acceptance Criteria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Nghiệm thu dựa trên hành vi quan sát được và evidence tái hiện được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64008" cy="128016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819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Driver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95528" y="198424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TX/RX đúng bitrate; restart sau bus-off; boot ổn định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417320"/>
            <a:ext cx="64008" cy="1280160"/>
          </a:xfrm>
          <a:prstGeom prst="rect">
            <a:avLst/>
          </a:prstGeom>
          <a:solidFill>
            <a:srgbClr val="FF9D3D"/>
          </a:solidFill>
          <a:ln w="12700">
            <a:solidFill>
              <a:srgbClr val="FF9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48" y="15819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USB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6327648" y="198424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Detect/mount/scan; thư mục rỗng; rút USB khi đang play</a:t>
            </a:r>
            <a:endParaRPr lang="en-US" sz="1160"/>
          </a:p>
        </p:txBody>
      </p:sp>
      <p:sp>
        <p:nvSpPr>
          <p:cNvPr id="12" name="Shape 10"/>
          <p:cNvSpPr/>
          <p:nvPr/>
        </p:nvSpPr>
        <p:spPr>
          <a:xfrm>
            <a:off x="594360" y="2990088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990088"/>
            <a:ext cx="64008" cy="128016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154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Playback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795528" y="355701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MP4/H.264; playlist loop; seek boundary; video lỗi</a:t>
            </a:r>
            <a:endParaRPr lang="en-US" sz="1160"/>
          </a:p>
        </p:txBody>
      </p:sp>
      <p:sp>
        <p:nvSpPr>
          <p:cNvPr id="16" name="Shape 14"/>
          <p:cNvSpPr/>
          <p:nvPr/>
        </p:nvSpPr>
        <p:spPr>
          <a:xfrm>
            <a:off x="6126480" y="2990088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990088"/>
            <a:ext cx="64008" cy="1280160"/>
          </a:xfrm>
          <a:prstGeom prst="rect">
            <a:avLst/>
          </a:prstGeom>
          <a:solidFill>
            <a:srgbClr val="FF9D3D"/>
          </a:solidFill>
          <a:ln w="12700">
            <a:solidFill>
              <a:srgbClr val="FF9D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1546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CAN Control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6327648" y="355701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Đủ 6 lệnh; command lặp; invalid command; timeout</a:t>
            </a:r>
            <a:endParaRPr lang="en-US" sz="1160"/>
          </a:p>
        </p:txBody>
      </p:sp>
      <p:sp>
        <p:nvSpPr>
          <p:cNvPr id="20" name="Shape 18"/>
          <p:cNvSpPr/>
          <p:nvPr/>
        </p:nvSpPr>
        <p:spPr>
          <a:xfrm>
            <a:off x="594360" y="4562856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562856"/>
            <a:ext cx="64008" cy="128016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47274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Robustness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795528" y="512978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Chạy dài; theo dõi CPU/RSS; không crash/leak rõ rệt</a:t>
            </a:r>
            <a:endParaRPr lang="en-US" sz="1160"/>
          </a:p>
        </p:txBody>
      </p:sp>
      <p:sp>
        <p:nvSpPr>
          <p:cNvPr id="24" name="Shape 22"/>
          <p:cNvSpPr/>
          <p:nvPr/>
        </p:nvSpPr>
        <p:spPr>
          <a:xfrm>
            <a:off x="6126480" y="4562856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4562856"/>
            <a:ext cx="64008" cy="1280160"/>
          </a:xfrm>
          <a:prstGeom prst="rect">
            <a:avLst/>
          </a:prstGeom>
          <a:solidFill>
            <a:srgbClr val="42C77A"/>
          </a:solidFill>
          <a:ln w="12700">
            <a:solidFill>
              <a:srgbClr val="42C7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72744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Documentation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6327648" y="512978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Build, deploy, architecture, protocol, test report</a:t>
            </a:r>
            <a:endParaRPr lang="en-US" sz="116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8. </a:t>
            </a:r>
            <a:r>
              <a:rPr lang="en-US" sz="2700" b="1" err="1">
                <a:solidFill>
                  <a:srgbClr val="F5FAFD"/>
                </a:solidFill>
              </a:rPr>
              <a:t>Phân</a:t>
            </a:r>
            <a:r>
              <a:rPr lang="en-US" sz="2700" b="1">
                <a:solidFill>
                  <a:srgbClr val="F5FAFD"/>
                </a:solidFill>
              </a:rPr>
              <a:t> </a:t>
            </a:r>
            <a:r>
              <a:rPr lang="en-US" sz="2700" b="1" err="1">
                <a:solidFill>
                  <a:srgbClr val="F5FAFD"/>
                </a:solidFill>
              </a:rPr>
              <a:t>công</a:t>
            </a:r>
            <a:r>
              <a:rPr lang="en-US" sz="2700" b="1">
                <a:solidFill>
                  <a:srgbClr val="F5FAFD"/>
                </a:solidFill>
              </a:rPr>
              <a:t> nhóm OJT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Khuyến nghị 3 thành viên, integration được thực hiện liên tục thay vì chờ cuối kỳ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64008" cy="406908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73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OJT 1 — Platform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41248" y="2075688"/>
            <a:ext cx="3154680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Kernel config / driver / DTS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SocketCAN bring-up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Build image / deployment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CAN diagnostics &amp; scripts</a:t>
            </a:r>
            <a:endParaRPr lang="en-US" sz="116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508760"/>
            <a:ext cx="64008" cy="4069080"/>
          </a:xfrm>
          <a:prstGeom prst="rect">
            <a:avLst/>
          </a:prstGeom>
          <a:solidFill>
            <a:srgbClr val="FF9D3D"/>
          </a:solidFill>
          <a:ln w="12700">
            <a:solidFill>
              <a:srgbClr val="FF9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673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OJT 2 — Application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4544568" y="2075688"/>
            <a:ext cx="3154680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Qt5 porting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C++ backend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USB scan / playlist model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Player state machine</a:t>
            </a:r>
            <a:endParaRPr lang="en-US" sz="116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508760"/>
            <a:ext cx="64008" cy="4069080"/>
          </a:xfrm>
          <a:prstGeom prst="rect">
            <a:avLst/>
          </a:prstGeom>
          <a:solidFill>
            <a:srgbClr val="42C77A"/>
          </a:solidFill>
          <a:ln w="12700">
            <a:solidFill>
              <a:srgbClr val="42C7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6733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OJT 3 — HMI &amp; Test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8247888" y="2075688"/>
            <a:ext cx="3154680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60">
                <a:solidFill>
                  <a:srgbClr val="A9C1D3"/>
                </a:solidFill>
              </a:rPr>
              <a:t>QML UI / UX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CANoe panel &amp; CAPL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DBC / protocol test</a:t>
            </a:r>
            <a:endParaRPr lang="en-US" sz="1160"/>
          </a:p>
          <a:p>
            <a:r>
              <a:rPr lang="en-US" sz="1160">
                <a:solidFill>
                  <a:srgbClr val="A9C1D3"/>
                </a:solidFill>
              </a:rPr>
              <a:t>System test &amp; demo</a:t>
            </a:r>
            <a:endParaRPr lang="en-US" sz="1160"/>
          </a:p>
        </p:txBody>
      </p:sp>
      <p:sp>
        <p:nvSpPr>
          <p:cNvPr id="16" name="Text 14"/>
          <p:cNvSpPr/>
          <p:nvPr/>
        </p:nvSpPr>
        <p:spPr>
          <a:xfrm>
            <a:off x="1828800" y="58978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5FAFD"/>
                </a:solidFill>
              </a:rPr>
              <a:t>Shared ownership: architecture • code review • integration • documentation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9. Deliverables </a:t>
            </a:r>
            <a:r>
              <a:rPr lang="en-US" sz="2700" b="1" err="1">
                <a:solidFill>
                  <a:srgbClr val="F5FAFD"/>
                </a:solidFill>
              </a:rPr>
              <a:t>cuối</a:t>
            </a:r>
            <a:r>
              <a:rPr lang="en-US" sz="2700" b="1">
                <a:solidFill>
                  <a:srgbClr val="F5FAFD"/>
                </a:solidFill>
              </a:rPr>
              <a:t> kỳ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Bộ đầu ra phải đủ để người khác build, deploy, test và demo lại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0652760" cy="658368"/>
          </a:xfrm>
          <a:prstGeom prst="roundRect">
            <a:avLst/>
          </a:prstGeom>
          <a:solidFill>
            <a:srgbClr val="10334C"/>
          </a:solidFill>
          <a:ln w="12700">
            <a:solidFill>
              <a:srgbClr val="2A5C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636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B7C4"/>
                </a:solidFill>
              </a:rPr>
              <a:t>01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1554480" y="156362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FAFD"/>
                </a:solidFill>
              </a:rPr>
              <a:t>Source code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657600" y="156362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9C1D3"/>
                </a:solidFill>
              </a:rPr>
              <a:t>Driver/DTS, C++, QML, CANoe/CAPL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777240" y="2295144"/>
            <a:ext cx="10652760" cy="658368"/>
          </a:xfrm>
          <a:prstGeom prst="roundRect">
            <a:avLst/>
          </a:prstGeom>
          <a:solidFill>
            <a:srgbClr val="0B2942"/>
          </a:solidFill>
          <a:ln w="12700">
            <a:solidFill>
              <a:srgbClr val="2A5C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414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B7C4"/>
                </a:solidFill>
              </a:rPr>
              <a:t>02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554480" y="2441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FAFD"/>
                </a:solidFill>
              </a:rPr>
              <a:t>Specifications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3657600" y="244144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9C1D3"/>
                </a:solidFill>
              </a:rPr>
              <a:t>Architecture, CAN protocol/DBC, state machine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777240" y="3172968"/>
            <a:ext cx="10652760" cy="658368"/>
          </a:xfrm>
          <a:prstGeom prst="roundRect">
            <a:avLst/>
          </a:prstGeom>
          <a:solidFill>
            <a:srgbClr val="10334C"/>
          </a:solidFill>
          <a:ln w="12700">
            <a:solidFill>
              <a:srgbClr val="2A5C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19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B7C4"/>
                </a:solidFill>
              </a:rPr>
              <a:t>03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554480" y="33192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FAFD"/>
                </a:solidFill>
              </a:rPr>
              <a:t>Build package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657600" y="33192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9C1D3"/>
                </a:solidFill>
              </a:rPr>
              <a:t>Build guide, scripts, binaries/image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777240" y="4050792"/>
            <a:ext cx="10652760" cy="658368"/>
          </a:xfrm>
          <a:prstGeom prst="roundRect">
            <a:avLst/>
          </a:prstGeom>
          <a:solidFill>
            <a:srgbClr val="0B2942"/>
          </a:solidFill>
          <a:ln w="12700">
            <a:solidFill>
              <a:srgbClr val="2A5C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197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B7C4"/>
                </a:solidFill>
              </a:rPr>
              <a:t>04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554480" y="41970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FAFD"/>
                </a:solidFill>
              </a:rPr>
              <a:t>Test package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3657600" y="41970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9C1D3"/>
                </a:solidFill>
              </a:rPr>
              <a:t>Test spec, logs, screenshots, report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777240" y="4928616"/>
            <a:ext cx="10652760" cy="658368"/>
          </a:xfrm>
          <a:prstGeom prst="roundRect">
            <a:avLst/>
          </a:prstGeom>
          <a:solidFill>
            <a:srgbClr val="10334C"/>
          </a:solidFill>
          <a:ln w="12700">
            <a:solidFill>
              <a:srgbClr val="2A5C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074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B7C4"/>
                </a:solidFill>
              </a:rPr>
              <a:t>05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1554480" y="50749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FAFD"/>
                </a:solidFill>
              </a:rPr>
              <a:t>Demo package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3657600" y="50749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9C1D3"/>
                </a:solidFill>
              </a:rPr>
              <a:t>Video demo, slide recap, known issues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5FAFD"/>
                </a:solidFill>
              </a:rPr>
              <a:t>Kết quả mong đợi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530352" y="1024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A9C1D3"/>
                </a:solidFill>
              </a:rPr>
              <a:t>Một demo tích hợp hoàn chỉnh, sát bài toán Automotive Infotainment</a:t>
            </a:r>
            <a:endParaRPr lang="en-US" sz="1250"/>
          </a:p>
        </p:txBody>
      </p:sp>
      <p:pic>
        <p:nvPicPr>
          <p:cNvPr id="4" name="Image 0" descr="/mnt/data/generated_image_D8A43CEBF517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71600"/>
            <a:ext cx="576072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137160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20840" y="1371600"/>
            <a:ext cx="64008" cy="1143000"/>
          </a:xfrm>
          <a:prstGeom prst="rect">
            <a:avLst/>
          </a:prstGeom>
          <a:solidFill>
            <a:srgbClr val="10B7C4"/>
          </a:solidFill>
          <a:ln w="12700">
            <a:solidFill>
              <a:srgbClr val="10B7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22008" y="15361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1. Bring-up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922008" y="1938528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CAN driver + SocketCAN vận hành trên target</a:t>
            </a:r>
            <a:endParaRPr lang="en-US" sz="1160"/>
          </a:p>
        </p:txBody>
      </p:sp>
      <p:sp>
        <p:nvSpPr>
          <p:cNvPr id="9" name="Shape 6"/>
          <p:cNvSpPr/>
          <p:nvPr/>
        </p:nvSpPr>
        <p:spPr>
          <a:xfrm>
            <a:off x="6720840" y="2724912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20840" y="2724912"/>
            <a:ext cx="64008" cy="1143000"/>
          </a:xfrm>
          <a:prstGeom prst="rect">
            <a:avLst/>
          </a:prstGeom>
          <a:solidFill>
            <a:srgbClr val="FF9D3D"/>
          </a:solidFill>
          <a:ln w="12700">
            <a:solidFill>
              <a:srgbClr val="FF9D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2008" y="28895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2. User Experience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6922008" y="3291840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Cắm USB, playlist xuất hiện và phát video</a:t>
            </a:r>
            <a:endParaRPr lang="en-US" sz="1160"/>
          </a:p>
        </p:txBody>
      </p:sp>
      <p:sp>
        <p:nvSpPr>
          <p:cNvPr id="13" name="Shape 10"/>
          <p:cNvSpPr/>
          <p:nvPr/>
        </p:nvSpPr>
        <p:spPr>
          <a:xfrm>
            <a:off x="6720840" y="4078224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0B2942">
              <a:alpha val="95000"/>
            </a:srgbClr>
          </a:solidFill>
          <a:ln w="12700">
            <a:solidFill>
              <a:srgbClr val="1A466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20840" y="4078224"/>
            <a:ext cx="64008" cy="1143000"/>
          </a:xfrm>
          <a:prstGeom prst="rect">
            <a:avLst/>
          </a:prstGeom>
          <a:solidFill>
            <a:srgbClr val="42C77A"/>
          </a:solidFill>
          <a:ln w="12700">
            <a:solidFill>
              <a:srgbClr val="42C7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2008" y="424281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5FAFD"/>
                </a:solidFill>
              </a:rPr>
              <a:t>3. Vehicle Control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6922008" y="4645152"/>
            <a:ext cx="4434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>
                <a:solidFill>
                  <a:srgbClr val="A9C1D3"/>
                </a:solidFill>
              </a:rPr>
              <a:t>CANoe điều khiển player và nhận trạng thái</a:t>
            </a:r>
            <a:endParaRPr lang="en-US" sz="1160"/>
          </a:p>
        </p:txBody>
      </p:sp>
      <p:sp>
        <p:nvSpPr>
          <p:cNvPr id="17" name="Text 14"/>
          <p:cNvSpPr/>
          <p:nvPr/>
        </p:nvSpPr>
        <p:spPr>
          <a:xfrm>
            <a:off x="6720840" y="56235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F5FAFD"/>
                </a:solidFill>
              </a:rPr>
              <a:t>READY FOR OJT KICK-OFF</a:t>
            </a:r>
            <a:endParaRPr lang="en-US" sz="1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18288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894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b512a4e-bb54-4328-ad34-d43205aaa1ec}" enabled="1" method="Privileged" siteId="{f01e930a-b52e-42b1-b70f-a8882b5d043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FPT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USB Video Player Controlled via CAN</dc:title>
  <dc:subject>OJT Embedded Linux Project</dc:subject>
  <dc:creator>Thanh Nguyen Van</dc:creator>
  <cp:revision>1</cp:revision>
  <dcterms:created xsi:type="dcterms:W3CDTF">2026-10-07T02:44:31Z</dcterms:created>
  <dcterms:modified xsi:type="dcterms:W3CDTF">2026-10-07T03:11:47Z</dcterms:modified>
</cp:coreProperties>
</file>